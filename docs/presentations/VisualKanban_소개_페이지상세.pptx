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도입 전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가시성</c:v>
                </c:pt>
                <c:pt idx="1">
                  <c:v>처리속도</c:v>
                </c:pt>
                <c:pt idx="2">
                  <c:v>일정정합성</c:v>
                </c:pt>
                <c:pt idx="3">
                  <c:v>협업만족도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52</c:v>
                </c:pt>
                <c:pt idx="2">
                  <c:v>46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도입 후 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가시성</c:v>
                </c:pt>
                <c:pt idx="1">
                  <c:v>처리속도</c:v>
                </c:pt>
                <c:pt idx="2">
                  <c:v>일정정합성</c:v>
                </c:pt>
                <c:pt idx="3">
                  <c:v>협업만족도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78</c:v>
                </c:pt>
                <c:pt idx="2">
                  <c:v>80</c:v>
                </c:pt>
                <c:pt idx="3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소개 기능 중심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Visual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협업 운영을 하나의 화면으로 통합한 실무형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72237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18488"/>
            <a:ext cx="700430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5971031"/>
            <a:ext cx="70043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실제 서비스 화면: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508760"/>
            <a:ext cx="3520440" cy="4754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95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이번 발표 포인트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페이지별 기능을 실제 화면과 함께 설명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사용 시나리오 중심으로 가치 전달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도입 시 운영효과를 수치/표로 정리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소개 기능 중심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발표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기능 설명 + 운영 방식 + 기대효과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6492240" cy="3291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Agenda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1) 화면 구조와 페이지별 주요 기능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2) 권한/프로젝트 운영 방식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3) 실제 업무 흐름 예시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4) 도입 기대효과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737360"/>
            <a:ext cx="123444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5C677A"/>
                </a:solidFill>
                <a:latin typeface="Malgun Gothic"/>
              </a:rPr>
              <a:t>핵심 페이지</a:t>
            </a:r>
          </a:p>
          <a:p>
            <a:pPr algn="ctr"/>
            <a:r>
              <a:rPr sz="2400" b="1">
                <a:solidFill>
                  <a:srgbClr val="1E58C7"/>
                </a:solidFill>
                <a:latin typeface="Malgun Gothic"/>
              </a:rPr>
              <a:t>7개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6528" y="1737360"/>
            <a:ext cx="123444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5C677A"/>
                </a:solidFill>
                <a:latin typeface="Malgun Gothic"/>
              </a:rPr>
              <a:t>권한 등급</a:t>
            </a:r>
          </a:p>
          <a:p>
            <a:pPr algn="ctr"/>
            <a:r>
              <a:rPr sz="2400" b="1">
                <a:solidFill>
                  <a:srgbClr val="20A076"/>
                </a:solidFill>
                <a:latin typeface="Malgun Gothic"/>
              </a:rPr>
              <a:t>3+1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86416" y="1737360"/>
            <a:ext cx="123444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95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5C677A"/>
                </a:solidFill>
                <a:latin typeface="Malgun Gothic"/>
              </a:rPr>
              <a:t>배포 방식</a:t>
            </a:r>
          </a:p>
          <a:p>
            <a:pPr algn="ctr"/>
            <a:r>
              <a:rPr sz="2400" b="1">
                <a:solidFill>
                  <a:srgbClr val="7952B3"/>
                </a:solidFill>
                <a:latin typeface="Malgun Gothic"/>
              </a:rPr>
              <a:t>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246120"/>
            <a:ext cx="40233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7" y="3355848"/>
            <a:ext cx="3803904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2944" y="5513831"/>
            <a:ext cx="380390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Search: To do/칸반/간트 통합 검색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소개 기능 중심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전체 화면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워크스페이스 + 현재화면 + 페이지 콘텐츠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좌측 Workspace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상단 Current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중앙 Page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331720"/>
            <a:ext cx="256032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2331720"/>
            <a:ext cx="256032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154680"/>
            <a:ext cx="1097280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구조 포인트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워크스페이스 접기/펼치기를 지원해 집중 모드 전환 가능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검색, 계정, 스타일/언어 설정이 상단/좌측에 일관 배치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Dashboard, To do, Whiteboard, Kanban, Gantt, 사용자 관리로 이동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페이지별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오늘 해야 할 일과 프로젝트 현황을 한 번에 파악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74066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7187183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6382512"/>
            <a:ext cx="71871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프로젝트/할 일/진행상태를 카드형으로 요약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63040"/>
            <a:ext cx="3383280" cy="5212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핵심 기능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최근 프로젝트 자동 유지 (계정별)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칸반/간트 빠른 진입 버튼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팀 진행상태 스냅샷 확인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스탠드업/주간회의 시작 화면으로 활용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페이지별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개인 실행력 관리 영역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74066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7187183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6382512"/>
            <a:ext cx="71871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개인 일정·반복·우선순위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63040"/>
            <a:ext cx="3383280" cy="5212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실무 활용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개인 루틴과 팀 태스크를 분리 운영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반복/완료 기준으로 누락 방지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우선순위 기준으로 당일 집중 목록 정리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페이지별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Kanban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상태 기반 협업 보드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74066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7187183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6382512"/>
            <a:ext cx="71871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Backlog / To do / In Progress /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63040"/>
            <a:ext cx="3383280" cy="5212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95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핵심 포인트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카드 이동 중심의 빠른 상태 업데이트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상세 팝업 심플화 (제목/설명/담당/우선순위)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하이라이트로 중요 항목 가독성 강화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담당자 자동완성 입력으로 대규모 사용자 대응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페이지별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Gantt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일정·계층·진행을 동시에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74066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7187183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6382512"/>
            <a:ext cx="71871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트리 + 타임라인 동시 편집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63040"/>
            <a:ext cx="3383280" cy="5212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핵심 포인트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행 드래그로 순서/계층 구조 변경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그래프 드래그로 일정 이동 및 조정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상세 팝업 단순화로 핵심 속성 집중 편집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하이라이트 시 트리/그래프 모두 동일 강조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페이지별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Whiteboard / 사용자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아이디어 공유 + 프로젝트 인원 운영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5778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hit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5358383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6382512"/>
            <a:ext cx="53583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화이트보드 협업 화면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52120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572768"/>
            <a:ext cx="4992624" cy="475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01384" y="6382512"/>
            <a:ext cx="49926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A"/>
                </a:solidFill>
                <a:latin typeface="Malgun Gothic"/>
              </a:rPr>
              <a:t>사용자/프로젝트 멤버 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운영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권한 운영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역할 + 프로젝트 참여 여부로 기능 접근 제어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프로젝트 관리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C212B"/>
                          </a:solidFill>
                          <a:latin typeface="Malgun Gothic"/>
                        </a:rPr>
                        <a:t>칸반/간트/화이트보드 작성</a:t>
                      </a:r>
                    </a:p>
                  </a:txBody>
                  <a:tcPr>
                    <a:solidFill>
                      <a:srgbClr val="E6EE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프로젝트 생성자/최고 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가능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협업 편집 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가능(멤버 추가/삭제 포함)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가능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열람 중심 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불가(조회만)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서비스 전체 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212B"/>
                          </a:solidFill>
                          <a:latin typeface="Malgun Gothic"/>
                        </a:rPr>
                        <a:t>가능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480560"/>
            <a:ext cx="10972800" cy="1554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운영 팁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프로젝트 참여자만 삭제 가능하도록 제한해 안전성 확보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대규모 사용자를 고려해 멤버 추가는 자동완성 입력 방식 채택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운영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실제 업무 진행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요청 접수부터 완료 보고까지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요청 등록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Kanban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Gantt 일정조정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0A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Whiteboard 협의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82880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12B"/>
                </a:solidFill>
                <a:latin typeface="Malgun Gothic"/>
              </a:rPr>
              <a:t>완료/공유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33172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00600" y="233172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233172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81160" y="2331720"/>
            <a:ext cx="320040" cy="0"/>
          </a:xfrm>
          <a:prstGeom prst="line">
            <a:avLst/>
          </a:prstGeom>
          <a:ln w="1651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3154680"/>
            <a:ext cx="1097280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핵심 메시지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업무 상태, 일정, 논의 흔적이 같은 프로젝트 컨텍스트에 유지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리더/실무자/참여자가 동일 데이터로 커뮤니케이션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툴 전환 비용을 줄이고 완료 리드타임을 단축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도입 기대효과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팀 운영 지표 개선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※ 아래 수치는 내부 운영 목표(예시)입니다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508760"/>
          <a:ext cx="66751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645920"/>
            <a:ext cx="3886200" cy="4297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95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예상 효과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현황 파악 시간 단축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우선순위 기반 처리 속도 향상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일정 충돌 조기 인지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팀 간 전달 누락 감소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5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Visual Kanban  | 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12B"/>
                </a:solidFill>
                <a:latin typeface="Malgun Gothic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A"/>
                </a:solidFill>
                <a:latin typeface="Malgun Gothic"/>
              </a:rPr>
              <a:t>Visual Kanban은 실무 협업을 '하나의 운영 화면'으로 단순화합니다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972800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5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C212B"/>
                </a:solidFill>
                <a:latin typeface="Malgun Gothic"/>
              </a:rPr>
              <a:t>결론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기능 측면: 할 일/칸반/간트/화이트보드/사용자 관리를 일관 UX로 통합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운영 측면: 권한/프로젝트 모델로 안전하고 명확한 협업 구조 제공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기술 측면: Docker + PostgreSQL 기반으로 실제 팀 운영에 바로 투입 가능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C212B"/>
                </a:solidFill>
                <a:latin typeface="Malgun Gothic"/>
              </a:rPr>
              <a:t>• 다음 단계: 팀별 운영 규칙 템플릿 정의 및 온보딩 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E58C7"/>
                </a:solidFill>
                <a:latin typeface="Malgun Gothic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